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352"/>
    <p:restoredTop sz="94610"/>
  </p:normalViewPr>
  <p:slideViewPr>
    <p:cSldViewPr snapToGrid="0" snapToObjects="1">
      <p:cViewPr varScale="1">
        <p:scale>
          <a:sx n="119" d="100"/>
          <a:sy n="119" d="100"/>
        </p:scale>
        <p:origin x="216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612247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572000" cy="4572000"/>
          </a:xfrm>
          <a:prstGeom prst="ellipse">
            <a:avLst/>
          </a:prstGeom>
          <a:solidFill>
            <a:srgbClr val="2631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1645920" y="4754880"/>
            <a:ext cx="3657600" cy="3657600"/>
          </a:xfrm>
          <a:prstGeom prst="ellipse">
            <a:avLst/>
          </a:prstGeom>
          <a:solidFill>
            <a:srgbClr val="26316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94360"/>
            <a:ext cx="640080" cy="640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4173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COTIVITI INTERN ASSESSMENT  —  OPTION 2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1874520"/>
            <a:ext cx="98755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 Generative AI for</a:t>
            </a:r>
            <a:endParaRPr lang="en-US" sz="3800" dirty="0"/>
          </a:p>
          <a:p>
            <a:pPr marL="0" indent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 Decision Making in Payment Integrity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640080" y="370332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multi-agent approach to claims anomaly detection, classification, and investigation reasoning for Treatment, Payment &amp; Operations (TPO)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40080" y="598932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Aryan Maheshwari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M.S. Applied Data Science, University of Southern California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Agentic Generative AI in TPO?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0881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generative AI uses multiple coordinated AI agents — each handling a discrete subtask — that plan, reason, and act with limited human intervention, rather than responding to single prompts. In Treatment, Payment &amp; Operations, this means agents that classify claims, detect anomalous billing patterns, and chain that evidence into a reasoned recommendation.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743200"/>
            <a:ext cx="3383280" cy="3017520"/>
          </a:xfrm>
          <a:prstGeom prst="roundRect">
            <a:avLst>
              <a:gd name="adj" fmla="val 2424"/>
            </a:avLst>
          </a:prstGeom>
          <a:solidFill>
            <a:srgbClr val="F4F7FC"/>
          </a:solidFill>
          <a:ln/>
          <a:effectLst>
            <a:outerShdw blurRad="101600" dist="381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22960" y="301752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3163824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84048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4279392"/>
            <a:ext cx="2834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claims priced well outside the peer norm for that procedure over time</a:t>
            </a:r>
          </a:p>
        </p:txBody>
      </p:sp>
      <p:sp>
        <p:nvSpPr>
          <p:cNvPr id="9" name="Shape 6"/>
          <p:cNvSpPr/>
          <p:nvPr/>
        </p:nvSpPr>
        <p:spPr>
          <a:xfrm>
            <a:off x="4251960" y="2743200"/>
            <a:ext cx="3383280" cy="3017520"/>
          </a:xfrm>
          <a:prstGeom prst="roundRect">
            <a:avLst>
              <a:gd name="adj" fmla="val 2424"/>
            </a:avLst>
          </a:prstGeom>
          <a:solidFill>
            <a:srgbClr val="F4F7FC"/>
          </a:solidFill>
          <a:ln/>
          <a:effectLst>
            <a:outerShdw blurRad="101600" dist="381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526280" y="301752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2584" y="3163824"/>
            <a:ext cx="347472" cy="34747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26280" y="384048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526280" y="4279392"/>
            <a:ext cx="2834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why a claim was flagged — upcoding, unbundling, duplicate billing.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7955280" y="2743200"/>
            <a:ext cx="3383280" cy="3017520"/>
          </a:xfrm>
          <a:prstGeom prst="roundRect">
            <a:avLst>
              <a:gd name="adj" fmla="val 2424"/>
            </a:avLst>
          </a:prstGeom>
          <a:solidFill>
            <a:srgbClr val="F4F7FC"/>
          </a:solidFill>
          <a:ln/>
          <a:effectLst>
            <a:outerShdw blurRad="101600" dist="381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8229600" y="301752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5904" y="3163824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229600" y="384048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Reasoning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229600" y="4279392"/>
            <a:ext cx="2834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agent chains the evidence into a written investigation recommendation.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Trends Shaping This Space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94360" cy="594360"/>
          </a:xfrm>
          <a:prstGeom prst="ellipse">
            <a:avLst/>
          </a:prstGeom>
          <a:solidFill>
            <a:srgbClr val="F4F7FC"/>
          </a:solidFill>
          <a:ln w="1905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1554480"/>
            <a:ext cx="320040" cy="320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137160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Pre-payment prevention over “pay-and-chase”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371600" y="1764792"/>
            <a:ext cx="9875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AI-enabled FWA detection can outperform legacy rules engines; HHS/CMS issued a 2026 RFI on AI methods to catch fraud before claims are paid.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2926080"/>
            <a:ext cx="594360" cy="594360"/>
          </a:xfrm>
          <a:prstGeom prst="ellipse">
            <a:avLst/>
          </a:prstGeom>
          <a:solidFill>
            <a:srgbClr val="F4F7FC"/>
          </a:solidFill>
          <a:ln w="1905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3063240"/>
            <a:ext cx="320040" cy="3200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71600" y="288036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Maturing multi-agent claims architectures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1371600" y="3273552"/>
            <a:ext cx="9875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Payers are moving from single-model fraud scoring to orchestrated agent pipelines spanning intake, validation, and adjudication.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48640" y="4434840"/>
            <a:ext cx="594360" cy="594360"/>
          </a:xfrm>
          <a:prstGeom prst="ellipse">
            <a:avLst/>
          </a:prstGeom>
          <a:solidFill>
            <a:srgbClr val="F4F7FC"/>
          </a:solidFill>
          <a:ln w="1905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457200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71600" y="438912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Tightening explainability &amp; disclosure rules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1371600" y="4782312"/>
            <a:ext cx="9875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state laws (e.g. Texas TRAIGA) require disclosure when AI informs a clinical or payment decision.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HIPAA Journal (2026); Launch Consulting (n.d.); MobiHealthNews (2026); Accenture Insurance Blog (2026); Akerman LLP (2026); Freyer et al. (2024).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Opportunities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383280" cy="4389120"/>
          </a:xfrm>
          <a:prstGeom prst="roundRect">
            <a:avLst>
              <a:gd name="adj" fmla="val 2162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85%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822960" y="2743200"/>
            <a:ext cx="28346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U.S. healthcare leaders plan to increase agentic AI investment over the next 2–3 years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1097280" y="4114800"/>
            <a:ext cx="2286000" cy="0"/>
          </a:xfrm>
          <a:prstGeom prst="line">
            <a:avLst/>
          </a:prstGeom>
          <a:noFill/>
          <a:ln w="12700">
            <a:solidFill>
              <a:srgbClr val="44509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48640" y="425196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98%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822960" y="512064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at least 10% cost savings from agentic AI</a:t>
            </a:r>
            <a:endParaRPr lang="en-US" sz="135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417320"/>
            <a:ext cx="365760" cy="3657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800600" y="1362456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Absorb high-volume triage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800600" y="1746504"/>
            <a:ext cx="6675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pipelines handle rules-governed claims work at scale, freeing investigators for complex or high-dollar cases.</a:t>
            </a:r>
            <a:endParaRPr lang="en-US" sz="125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283464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800600" y="2779776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relational fraud schemes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4800600" y="3163824"/>
            <a:ext cx="6675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Graph- and agent-based approaches model claims as interconnected provider–patient–facility networks, surfacing coordinated schemes simple rules miss.</a:t>
            </a:r>
            <a:endParaRPr lang="en-US" sz="125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425196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800600" y="4197096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Extend, don’t replace, existing strengths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4800600" y="4581144"/>
            <a:ext cx="6675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Cotiviti can layer agentic reasoning onto its existing payment accuracy and quality measurement capabilities.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WWT (2026); Deloitte (2026); Gupta (2026).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Risks &amp; Threats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64240" cy="1417320"/>
          </a:xfrm>
          <a:prstGeom prst="roundRect">
            <a:avLst>
              <a:gd name="adj" fmla="val 4516"/>
            </a:avLst>
          </a:prstGeom>
          <a:solidFill>
            <a:srgbClr val="FDF2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22960" y="1709928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84B3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" y="1865376"/>
            <a:ext cx="329184" cy="3291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737360" y="1581912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Opacity &amp; explainability gaps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1737360" y="1965960"/>
            <a:ext cx="9601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learning-based flags are hard for investigators or providers to interrogate — regulators are responding with disclosure and auditability mandates.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48640" y="3044952"/>
            <a:ext cx="11064240" cy="1417320"/>
          </a:xfrm>
          <a:prstGeom prst="roundRect">
            <a:avLst>
              <a:gd name="adj" fmla="val 4516"/>
            </a:avLst>
          </a:prstGeom>
          <a:solidFill>
            <a:srgbClr val="FDF2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822960" y="333756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84B3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" y="3493008"/>
            <a:ext cx="329184" cy="32918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737360" y="3209544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Uneven compliance capacity</a:t>
            </a:r>
            <a:endParaRPr lang="en-US" sz="1550" dirty="0"/>
          </a:p>
        </p:txBody>
      </p:sp>
      <p:sp>
        <p:nvSpPr>
          <p:cNvPr id="12" name="Text 8"/>
          <p:cNvSpPr/>
          <p:nvPr/>
        </p:nvSpPr>
        <p:spPr>
          <a:xfrm>
            <a:off x="1737360" y="3593592"/>
            <a:ext cx="9601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and validating these systems often falls on individual organizations, widening gaps between well- and under-resourced payers.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548640" y="4672584"/>
            <a:ext cx="11064240" cy="1417320"/>
          </a:xfrm>
          <a:prstGeom prst="roundRect">
            <a:avLst>
              <a:gd name="adj" fmla="val 4516"/>
            </a:avLst>
          </a:prstGeom>
          <a:solidFill>
            <a:srgbClr val="FDF2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822960" y="496519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84B3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" y="5120640"/>
            <a:ext cx="329184" cy="32918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737360" y="4837176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 risk in reasoning agents</a:t>
            </a:r>
            <a:endParaRPr lang="en-US" sz="1550" dirty="0"/>
          </a:p>
        </p:txBody>
      </p:sp>
      <p:sp>
        <p:nvSpPr>
          <p:cNvPr id="17" name="Text 12"/>
          <p:cNvSpPr/>
          <p:nvPr/>
        </p:nvSpPr>
        <p:spPr>
          <a:xfrm>
            <a:off x="1737360" y="5221224"/>
            <a:ext cx="9601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generative agent's written rationale must be treated as a recommendation for a human — never as the basis for an autonomous denial.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Akerman LLP (2026); Mazariego (2026).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Strategic Recommendation for Cotiviti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existing payment accuracy capabilities with a narrow, governed agentic pilot — not a greenfield bet.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49240" cy="4023360"/>
          </a:xfrm>
          <a:prstGeom prst="roundRect">
            <a:avLst>
              <a:gd name="adj" fmla="val 1818"/>
            </a:avLst>
          </a:prstGeom>
          <a:solidFill>
            <a:srgbClr val="F4F7FC"/>
          </a:solidFill>
          <a:ln/>
          <a:effectLst>
            <a:outerShdw blurRad="101600" dist="381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68680" y="2148840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68680" y="21488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68680" y="3063240"/>
            <a:ext cx="4709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a narrow, auditable copilot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3794760"/>
            <a:ext cx="47091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+ classification + a reasoning agent that drafts (never finalizes) an investigation recommendation on one claim category — with mandatory human sign-off on every flagged claim.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63640" y="1828800"/>
            <a:ext cx="5349240" cy="4023360"/>
          </a:xfrm>
          <a:prstGeom prst="roundRect">
            <a:avLst>
              <a:gd name="adj" fmla="val 1818"/>
            </a:avLst>
          </a:prstGeom>
          <a:solidFill>
            <a:srgbClr val="F4F7FC"/>
          </a:solidFill>
          <a:ln/>
          <a:effectLst>
            <a:outerShdw blurRad="101600" dist="381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583680" y="2148840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583680" y="21488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583680" y="3063240"/>
            <a:ext cx="4709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governance in parallel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583680" y="3794760"/>
            <a:ext cx="47091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decision logging, model versioning, and audit trails alongside the first pilot — ahead of 2026 disclosure and certification requirements, and far cheaper than retrofitting later.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789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Proof of Concept: 3-Agent Pipeline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Claims Investigation Copilot — synthetic data, no PHI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291840" cy="3200400"/>
          </a:xfrm>
          <a:prstGeom prst="roundRect">
            <a:avLst>
              <a:gd name="adj" fmla="val 2286"/>
            </a:avLst>
          </a:prstGeom>
          <a:solidFill>
            <a:srgbClr val="2631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22960" y="219456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2340864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9260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22960" y="32004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Detector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22960" y="365760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Forest flags claims priced well outside the peer norm for that procedure code.</a:t>
            </a:r>
            <a:endParaRPr lang="en-US" sz="12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3632" y="3337560"/>
            <a:ext cx="365760" cy="36576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34840" y="1920240"/>
            <a:ext cx="3291840" cy="3200400"/>
          </a:xfrm>
          <a:prstGeom prst="roundRect">
            <a:avLst>
              <a:gd name="adj" fmla="val 2286"/>
            </a:avLst>
          </a:prstGeom>
          <a:solidFill>
            <a:srgbClr val="2631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4709160" y="219456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5464" y="2340864"/>
            <a:ext cx="347472" cy="34747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709160" y="29260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2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4709160" y="32004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Classifier</a:t>
            </a:r>
            <a:endParaRPr lang="en-US" sz="1700" dirty="0"/>
          </a:p>
        </p:txBody>
      </p:sp>
      <p:sp>
        <p:nvSpPr>
          <p:cNvPr id="16" name="Text 11"/>
          <p:cNvSpPr/>
          <p:nvPr/>
        </p:nvSpPr>
        <p:spPr>
          <a:xfrm>
            <a:off x="4709160" y="365760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triage labels why a claim was flagged: upcoding, unbundling, duplicate billing.</a:t>
            </a:r>
            <a:endParaRPr lang="en-US" sz="120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99832" y="3337560"/>
            <a:ext cx="365760" cy="36576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8321040" y="1920240"/>
            <a:ext cx="3291840" cy="3200400"/>
          </a:xfrm>
          <a:prstGeom prst="roundRect">
            <a:avLst>
              <a:gd name="adj" fmla="val 2286"/>
            </a:avLst>
          </a:prstGeom>
          <a:solidFill>
            <a:srgbClr val="2631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3"/>
          <p:cNvSpPr/>
          <p:nvPr/>
        </p:nvSpPr>
        <p:spPr>
          <a:xfrm>
            <a:off x="8595360" y="219456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1664" y="2340864"/>
            <a:ext cx="347472" cy="347472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8595360" y="29260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3</a:t>
            </a:r>
            <a:endParaRPr lang="en-US" sz="1200" dirty="0"/>
          </a:p>
        </p:txBody>
      </p:sp>
      <p:sp>
        <p:nvSpPr>
          <p:cNvPr id="22" name="Text 15"/>
          <p:cNvSpPr/>
          <p:nvPr/>
        </p:nvSpPr>
        <p:spPr>
          <a:xfrm>
            <a:off x="8595360" y="32004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Agent</a:t>
            </a:r>
            <a:endParaRPr lang="en-US" sz="1700" dirty="0"/>
          </a:p>
        </p:txBody>
      </p:sp>
      <p:sp>
        <p:nvSpPr>
          <p:cNvPr id="23" name="Text 16"/>
          <p:cNvSpPr/>
          <p:nvPr/>
        </p:nvSpPr>
        <p:spPr>
          <a:xfrm>
            <a:off x="8595360" y="365760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chains both signals into a written investigation summary and recommendation.</a:t>
            </a:r>
            <a:endParaRPr lang="en-US" sz="1200" dirty="0"/>
          </a:p>
        </p:txBody>
      </p:sp>
      <p:sp>
        <p:nvSpPr>
          <p:cNvPr id="24" name="Text 17"/>
          <p:cNvSpPr/>
          <p:nvPr/>
        </p:nvSpPr>
        <p:spPr>
          <a:xfrm>
            <a:off x="640080" y="54864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 runs the three agents sequentially on each claim — simple by design, per the assignment's own guidance not to overcomplicate the demo.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Copilot in Action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Streamlit dashboard — demonstrated in the accompanying video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F4F7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604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85800" y="24231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claims processed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291840" y="160020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F4F7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291840" y="1691640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429000" y="24231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for investigation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035040" y="160020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F4F7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035040" y="1691640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8.1%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6172200" y="24231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rate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246120"/>
            <a:ext cx="10607040" cy="2788920"/>
          </a:xfrm>
          <a:prstGeom prst="roundRect">
            <a:avLst>
              <a:gd name="adj" fmla="val 2623"/>
            </a:avLst>
          </a:prstGeom>
          <a:solidFill>
            <a:srgbClr val="F4F7FC"/>
          </a:solidFill>
          <a:ln w="12700">
            <a:solidFill>
              <a:srgbClr val="DCE5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520440"/>
            <a:ext cx="365760" cy="36576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371600" y="3547872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Investigation Summary — Agent 3 output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868680" y="4069080"/>
            <a:ext cx="9966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“Claim CLM-00363 was billed at 2.69x the peer median price for procedure 80053, well above what other providers typically charge for this code. This is consistent with unbundling. Recommendation: escalate to a coding specialist for a bundling-rules review before payment.”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68680" y="5074920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Category: unbundling_suspected   •   Anomaly score: 0.80   •   Ratio to peer median: 2.69x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868680" y="5486400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flagged claim routes to a human reviewer — the agent recommends, it never auto-denies.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520440" cy="3931920"/>
          </a:xfrm>
          <a:prstGeom prst="roundRect">
            <a:avLst>
              <a:gd name="adj" fmla="val 2078"/>
            </a:avLst>
          </a:prstGeom>
          <a:solidFill>
            <a:srgbClr val="F4F7FC"/>
          </a:solidFill>
          <a:ln/>
          <a:effectLst>
            <a:outerShdw blurRad="101600" dist="381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68680" y="187452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" y="2029968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743200"/>
            <a:ext cx="2971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fits TPO naturally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822960" y="3429000"/>
            <a:ext cx="2971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Classification, anomaly detection, and chain reasoning map directly onto claims investigation workflows.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297680" y="1554480"/>
            <a:ext cx="3520440" cy="3931920"/>
          </a:xfrm>
          <a:prstGeom prst="roundRect">
            <a:avLst>
              <a:gd name="adj" fmla="val 2078"/>
            </a:avLst>
          </a:prstGeom>
          <a:solidFill>
            <a:srgbClr val="F4F7FC"/>
          </a:solidFill>
          <a:ln/>
          <a:effectLst>
            <a:outerShdw blurRad="101600" dist="381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4617720" y="187452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3168" y="2029968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0" y="2743200"/>
            <a:ext cx="2971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is not optional</a:t>
            </a:r>
            <a:endParaRPr lang="en-US" sz="1550" dirty="0"/>
          </a:p>
        </p:txBody>
      </p:sp>
      <p:sp>
        <p:nvSpPr>
          <p:cNvPr id="12" name="Text 8"/>
          <p:cNvSpPr/>
          <p:nvPr/>
        </p:nvSpPr>
        <p:spPr>
          <a:xfrm>
            <a:off x="4572000" y="3429000"/>
            <a:ext cx="2971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 and disclosure requirements are arriving in 2026 — build audit trails alongside the pilot, not after it.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8046720" y="1554480"/>
            <a:ext cx="3520440" cy="3931920"/>
          </a:xfrm>
          <a:prstGeom prst="roundRect">
            <a:avLst>
              <a:gd name="adj" fmla="val 2078"/>
            </a:avLst>
          </a:prstGeom>
          <a:solidFill>
            <a:srgbClr val="F4F7FC"/>
          </a:solidFill>
          <a:ln/>
          <a:effectLst>
            <a:outerShdw blurRad="101600" dist="381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8366760" y="187452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22208" y="2029968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321040" y="2743200"/>
            <a:ext cx="2971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narrow, prove it, expand</a:t>
            </a:r>
            <a:endParaRPr lang="en-US" sz="1550" dirty="0"/>
          </a:p>
        </p:txBody>
      </p:sp>
      <p:sp>
        <p:nvSpPr>
          <p:cNvPr id="17" name="Text 12"/>
          <p:cNvSpPr/>
          <p:nvPr/>
        </p:nvSpPr>
        <p:spPr>
          <a:xfrm>
            <a:off x="8321040" y="3429000"/>
            <a:ext cx="2971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small, auditable pilot with mandatory human sign-off is the credible path to scaling agentic claims tools.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4114800"/>
            <a:ext cx="4572000" cy="4572000"/>
          </a:xfrm>
          <a:prstGeom prst="ellipse">
            <a:avLst/>
          </a:prstGeom>
          <a:solidFill>
            <a:srgbClr val="2631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40080" y="640080"/>
            <a:ext cx="731520" cy="7315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786384"/>
            <a:ext cx="438912" cy="4389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82880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640080" y="2743200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about the report, the proof of concept, or where this could go next — happy to discuss.</a:t>
            </a:r>
            <a:endParaRPr lang="en-US" sz="16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749040"/>
            <a:ext cx="292608" cy="29260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51560" y="3730752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aryan26.03.02@gmail.com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640080" y="42062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C9B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Aryan Maheshwari  |  M.S. Applied Data Science, USC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</TotalTime>
  <Words>920</Words>
  <Application>Microsoft Macintosh PowerPoint</Application>
  <PresentationFormat>Widescreen</PresentationFormat>
  <Paragraphs>95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AI for Payment Integrity — Cotiviti Intern Assessment</dc:title>
  <dc:subject>PptxGenJS Presentation</dc:subject>
  <dc:creator>Aryan Maheshwari</dc:creator>
  <cp:lastModifiedBy>Aryan Maheshwari</cp:lastModifiedBy>
  <cp:revision>2</cp:revision>
  <dcterms:created xsi:type="dcterms:W3CDTF">2026-06-25T20:56:36Z</dcterms:created>
  <dcterms:modified xsi:type="dcterms:W3CDTF">2026-06-26T01:18:14Z</dcterms:modified>
</cp:coreProperties>
</file>