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notesMasterIdLst>
    <p:notesMasterId r:id="rId12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notesMaster" Target="notesMasters/notesMaster1.xml"/><Relationship Id="rId13" Type="http://schemas.openxmlformats.org/officeDocument/2006/relationships/presProps" Target="presProps.xml"/><Relationship Id="rId14" Type="http://schemas.openxmlformats.org/officeDocument/2006/relationships/viewProps" Target="viewProps.xml"/><Relationship Id="rId15" Type="http://schemas.openxmlformats.org/officeDocument/2006/relationships/theme" Target="theme/theme1.xml"/><Relationship Id="rId16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image" Target="../media/image-2-2.png"/><Relationship Id="rId3" Type="http://schemas.openxmlformats.org/officeDocument/2006/relationships/image" Target="../media/image-2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image" Target="../media/image-3-2.png"/><Relationship Id="rId3" Type="http://schemas.openxmlformats.org/officeDocument/2006/relationships/image" Target="../media/image-3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image" Target="../media/image-4-2.png"/><Relationship Id="rId3" Type="http://schemas.openxmlformats.org/officeDocument/2006/relationships/image" Target="../media/image-4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image" Target="../media/image-5-2.png"/><Relationship Id="rId3" Type="http://schemas.openxmlformats.org/officeDocument/2006/relationships/image" Target="../media/image-5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image" Target="../media/image-7-2.png"/><Relationship Id="rId3" Type="http://schemas.openxmlformats.org/officeDocument/2006/relationships/image" Target="../media/image-7-3.png"/><Relationship Id="rId4" Type="http://schemas.openxmlformats.org/officeDocument/2006/relationships/image" Target="../media/image-7-4.png"/><Relationship Id="rId5" Type="http://schemas.openxmlformats.org/officeDocument/2006/relationships/image" Target="../media/image-7-5.png"/><Relationship Id="rId6" Type="http://schemas.openxmlformats.org/officeDocument/2006/relationships/slideLayout" Target="../slideLayouts/slideLayout1.xml"/><Relationship Id="rId7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image" Target="../media/image-9-2.png"/><Relationship Id="rId3" Type="http://schemas.openxmlformats.org/officeDocument/2006/relationships/image" Target="../media/image-9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png"/><Relationship Id="rId2" Type="http://schemas.openxmlformats.org/officeDocument/2006/relationships/image" Target="../media/image-10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E276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9692640" y="-1371600"/>
            <a:ext cx="4572000" cy="4572000"/>
          </a:xfrm>
          <a:prstGeom prst="ellipse">
            <a:avLst/>
          </a:prstGeom>
          <a:solidFill>
            <a:srgbClr val="26316B"/>
          </a:solidFill>
          <a:ln/>
        </p:spPr>
      </p:sp>
      <p:sp>
        <p:nvSpPr>
          <p:cNvPr id="3" name="Shape 1"/>
          <p:cNvSpPr/>
          <p:nvPr/>
        </p:nvSpPr>
        <p:spPr>
          <a:xfrm>
            <a:off x="-1645920" y="4754880"/>
            <a:ext cx="3657600" cy="3657600"/>
          </a:xfrm>
          <a:prstGeom prst="ellipse">
            <a:avLst/>
          </a:prstGeom>
          <a:solidFill>
            <a:srgbClr val="26316B"/>
          </a:solidFill>
          <a:ln/>
        </p:spPr>
      </p:sp>
      <p:pic>
        <p:nvPicPr>
          <p:cNvPr id="4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40080" y="594360"/>
            <a:ext cx="640080" cy="640080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640080" y="1417320"/>
            <a:ext cx="9144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spc="200" kern="0" dirty="0">
                <a:solidFill>
                  <a:srgbClr val="00A8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COTIVITI INTERN ASSESSMENT  —  OPTION 2</a:t>
            </a:r>
            <a:endParaRPr lang="en-US" sz="1400" dirty="0"/>
          </a:p>
        </p:txBody>
      </p:sp>
      <p:sp>
        <p:nvSpPr>
          <p:cNvPr id="6" name="Text 3"/>
          <p:cNvSpPr/>
          <p:nvPr/>
        </p:nvSpPr>
        <p:spPr>
          <a:xfrm>
            <a:off x="640080" y="1874520"/>
            <a:ext cx="9875520" cy="1828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4400"/>
              </a:lnSpc>
              <a:buNone/>
            </a:pPr>
            <a:r>
              <a:rPr lang="en-US" sz="3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Agentic Generative AI for</a:t>
            </a:r>
            <a:endParaRPr lang="en-US" sz="3800" dirty="0"/>
          </a:p>
          <a:p>
            <a:pPr indent="0" marL="0">
              <a:lnSpc>
                <a:spcPts val="4400"/>
              </a:lnSpc>
              <a:buNone/>
            </a:pPr>
            <a:r>
              <a:rPr lang="en-US" sz="3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Clinical Decision Making in Payment Integrity</a:t>
            </a:r>
            <a:endParaRPr lang="en-US" sz="3800" dirty="0"/>
          </a:p>
        </p:txBody>
      </p:sp>
      <p:sp>
        <p:nvSpPr>
          <p:cNvPr id="7" name="Text 4"/>
          <p:cNvSpPr/>
          <p:nvPr/>
        </p:nvSpPr>
        <p:spPr>
          <a:xfrm>
            <a:off x="640080" y="3703320"/>
            <a:ext cx="86868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i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multi-agent approach to claims anomaly detection, classification, and investigation reasoning for Treatment, Payment &amp; Operations (TPO)</a:t>
            </a:r>
            <a:endParaRPr lang="en-US" sz="1600" dirty="0"/>
          </a:p>
        </p:txBody>
      </p:sp>
      <p:sp>
        <p:nvSpPr>
          <p:cNvPr id="8" name="Text 5"/>
          <p:cNvSpPr/>
          <p:nvPr/>
        </p:nvSpPr>
        <p:spPr>
          <a:xfrm>
            <a:off x="640080" y="5989320"/>
            <a:ext cx="73152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Aryan Maheshwari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M.S. Applied Data Science, University of Southern California</a:t>
            </a:r>
            <a:endParaRPr lang="en-US" sz="13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10515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What is Agentic Generative AI in TPO?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548640" y="1234440"/>
            <a:ext cx="10881360" cy="1280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500" dirty="0">
                <a:solidFill>
                  <a:srgbClr val="1B1B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Agentic generative AI uses multiple coordinated AI agents — each handling a discrete subtask — that plan, reason, and act with limited human intervention, rather than responding to single prompts. In Treatment, Payment &amp; Operations, this means agents that classify claims, detect anomalous billing patterns, and chain that evidence into a reasoned recommendation.</a:t>
            </a:r>
            <a:endParaRPr lang="en-US" sz="1500" dirty="0"/>
          </a:p>
        </p:txBody>
      </p:sp>
      <p:sp>
        <p:nvSpPr>
          <p:cNvPr id="4" name="Shape 2"/>
          <p:cNvSpPr/>
          <p:nvPr/>
        </p:nvSpPr>
        <p:spPr>
          <a:xfrm>
            <a:off x="548640" y="2743200"/>
            <a:ext cx="3383280" cy="3017520"/>
          </a:xfrm>
          <a:prstGeom prst="roundRect">
            <a:avLst>
              <a:gd name="adj" fmla="val 2424"/>
            </a:avLst>
          </a:prstGeom>
          <a:solidFill>
            <a:srgbClr val="F4F7FC"/>
          </a:solidFill>
          <a:ln/>
          <a:effectLst>
            <a:outerShdw sx="100000" sy="100000" kx="0" ky="0" algn="bl" rotWithShape="0" blurRad="101600" dist="38100" dir="5400000">
              <a:srgbClr val="1E2761">
                <a:alpha val="10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822960" y="3017520"/>
            <a:ext cx="640080" cy="640080"/>
          </a:xfrm>
          <a:prstGeom prst="ellipse">
            <a:avLst/>
          </a:prstGeom>
          <a:solidFill>
            <a:srgbClr val="1E2761"/>
          </a:solidFill>
          <a:ln/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69264" y="3163824"/>
            <a:ext cx="347472" cy="347472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822960" y="3840480"/>
            <a:ext cx="28346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Anomaly Detection</a:t>
            </a:r>
            <a:endParaRPr lang="en-US" sz="1600" dirty="0"/>
          </a:p>
        </p:txBody>
      </p:sp>
      <p:sp>
        <p:nvSpPr>
          <p:cNvPr id="8" name="Text 5"/>
          <p:cNvSpPr/>
          <p:nvPr/>
        </p:nvSpPr>
        <p:spPr>
          <a:xfrm>
            <a:off x="822960" y="4279392"/>
            <a:ext cx="283464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250" dirty="0">
                <a:solidFill>
                  <a:srgbClr val="5B6B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Flag claims that deviate from a provider’s normal billing pattern over time.</a:t>
            </a:r>
            <a:endParaRPr lang="en-US" sz="1250" dirty="0"/>
          </a:p>
        </p:txBody>
      </p:sp>
      <p:sp>
        <p:nvSpPr>
          <p:cNvPr id="9" name="Shape 6"/>
          <p:cNvSpPr/>
          <p:nvPr/>
        </p:nvSpPr>
        <p:spPr>
          <a:xfrm>
            <a:off x="4251960" y="2743200"/>
            <a:ext cx="3383280" cy="3017520"/>
          </a:xfrm>
          <a:prstGeom prst="roundRect">
            <a:avLst>
              <a:gd name="adj" fmla="val 2424"/>
            </a:avLst>
          </a:prstGeom>
          <a:solidFill>
            <a:srgbClr val="F4F7FC"/>
          </a:solidFill>
          <a:ln/>
          <a:effectLst>
            <a:outerShdw sx="100000" sy="100000" kx="0" ky="0" algn="bl" rotWithShape="0" blurRad="101600" dist="38100" dir="5400000">
              <a:srgbClr val="1E2761">
                <a:alpha val="10000"/>
              </a:srgbClr>
            </a:outerShdw>
          </a:effectLst>
        </p:spPr>
      </p:sp>
      <p:sp>
        <p:nvSpPr>
          <p:cNvPr id="10" name="Shape 7"/>
          <p:cNvSpPr/>
          <p:nvPr/>
        </p:nvSpPr>
        <p:spPr>
          <a:xfrm>
            <a:off x="4526280" y="3017520"/>
            <a:ext cx="640080" cy="640080"/>
          </a:xfrm>
          <a:prstGeom prst="ellipse">
            <a:avLst/>
          </a:prstGeom>
          <a:solidFill>
            <a:srgbClr val="1E2761"/>
          </a:solidFill>
          <a:ln/>
        </p:spPr>
      </p:sp>
      <p:pic>
        <p:nvPicPr>
          <p:cNvPr id="11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672584" y="3163824"/>
            <a:ext cx="347472" cy="347472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4526280" y="3840480"/>
            <a:ext cx="28346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Classification</a:t>
            </a:r>
            <a:endParaRPr lang="en-US" sz="1600" dirty="0"/>
          </a:p>
        </p:txBody>
      </p:sp>
      <p:sp>
        <p:nvSpPr>
          <p:cNvPr id="13" name="Text 9"/>
          <p:cNvSpPr/>
          <p:nvPr/>
        </p:nvSpPr>
        <p:spPr>
          <a:xfrm>
            <a:off x="4526280" y="4279392"/>
            <a:ext cx="283464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250" dirty="0">
                <a:solidFill>
                  <a:srgbClr val="5B6B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Triage why a claim was flagged — upcoding, unbundling, duplicate billing.</a:t>
            </a:r>
            <a:endParaRPr lang="en-US" sz="1250" dirty="0"/>
          </a:p>
        </p:txBody>
      </p:sp>
      <p:sp>
        <p:nvSpPr>
          <p:cNvPr id="14" name="Shape 10"/>
          <p:cNvSpPr/>
          <p:nvPr/>
        </p:nvSpPr>
        <p:spPr>
          <a:xfrm>
            <a:off x="7955280" y="2743200"/>
            <a:ext cx="3383280" cy="3017520"/>
          </a:xfrm>
          <a:prstGeom prst="roundRect">
            <a:avLst>
              <a:gd name="adj" fmla="val 2424"/>
            </a:avLst>
          </a:prstGeom>
          <a:solidFill>
            <a:srgbClr val="F4F7FC"/>
          </a:solidFill>
          <a:ln/>
          <a:effectLst>
            <a:outerShdw sx="100000" sy="100000" kx="0" ky="0" algn="bl" rotWithShape="0" blurRad="101600" dist="38100" dir="5400000">
              <a:srgbClr val="1E2761">
                <a:alpha val="10000"/>
              </a:srgbClr>
            </a:outerShdw>
          </a:effectLst>
        </p:spPr>
      </p:sp>
      <p:sp>
        <p:nvSpPr>
          <p:cNvPr id="15" name="Shape 11"/>
          <p:cNvSpPr/>
          <p:nvPr/>
        </p:nvSpPr>
        <p:spPr>
          <a:xfrm>
            <a:off x="8229600" y="3017520"/>
            <a:ext cx="640080" cy="640080"/>
          </a:xfrm>
          <a:prstGeom prst="ellipse">
            <a:avLst/>
          </a:prstGeom>
          <a:solidFill>
            <a:srgbClr val="1E2761"/>
          </a:solidFill>
          <a:ln/>
        </p:spPr>
      </p:sp>
      <p:pic>
        <p:nvPicPr>
          <p:cNvPr id="16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375904" y="3163824"/>
            <a:ext cx="347472" cy="347472"/>
          </a:xfrm>
          <a:prstGeom prst="rect">
            <a:avLst/>
          </a:prstGeom>
        </p:spPr>
      </p:pic>
      <p:sp>
        <p:nvSpPr>
          <p:cNvPr id="17" name="Text 12"/>
          <p:cNvSpPr/>
          <p:nvPr/>
        </p:nvSpPr>
        <p:spPr>
          <a:xfrm>
            <a:off x="8229600" y="3840480"/>
            <a:ext cx="28346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Chain Reasoning</a:t>
            </a:r>
            <a:endParaRPr lang="en-US" sz="1600" dirty="0"/>
          </a:p>
        </p:txBody>
      </p:sp>
      <p:sp>
        <p:nvSpPr>
          <p:cNvPr id="18" name="Text 13"/>
          <p:cNvSpPr/>
          <p:nvPr/>
        </p:nvSpPr>
        <p:spPr>
          <a:xfrm>
            <a:off x="8229600" y="4279392"/>
            <a:ext cx="283464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250" dirty="0">
                <a:solidFill>
                  <a:srgbClr val="5B6B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 LLM agent chains the evidence into a written investigation recommendation.</a:t>
            </a:r>
            <a:endParaRPr lang="en-US" sz="12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10515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Three Trends Shaping This Space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548640" y="1417320"/>
            <a:ext cx="594360" cy="594360"/>
          </a:xfrm>
          <a:prstGeom prst="ellipse">
            <a:avLst/>
          </a:prstGeom>
          <a:solidFill>
            <a:srgbClr val="F4F7FC"/>
          </a:solidFill>
          <a:ln w="19050">
            <a:solidFill>
              <a:srgbClr val="00A896"/>
            </a:solidFill>
            <a:prstDash val="solid"/>
          </a:ln>
        </p:spPr>
      </p:sp>
      <p:pic>
        <p:nvPicPr>
          <p:cNvPr id="4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94944" y="1554480"/>
            <a:ext cx="320040" cy="320040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1371600" y="1371600"/>
            <a:ext cx="98755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Pre-payment prevention over “pay-and-chase”</a:t>
            </a:r>
            <a:endParaRPr lang="en-US" sz="1600" dirty="0"/>
          </a:p>
        </p:txBody>
      </p:sp>
      <p:sp>
        <p:nvSpPr>
          <p:cNvPr id="6" name="Text 3"/>
          <p:cNvSpPr/>
          <p:nvPr/>
        </p:nvSpPr>
        <p:spPr>
          <a:xfrm>
            <a:off x="1371600" y="1764792"/>
            <a:ext cx="987552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300" dirty="0">
                <a:solidFill>
                  <a:srgbClr val="5B6B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AI-enabled FWA detection can outperform legacy rules engines; HHS/CMS issued a 2026 RFI on AI methods to catch fraud before claims are paid.</a:t>
            </a:r>
            <a:endParaRPr lang="en-US" sz="1300" dirty="0"/>
          </a:p>
        </p:txBody>
      </p:sp>
      <p:sp>
        <p:nvSpPr>
          <p:cNvPr id="7" name="Shape 4"/>
          <p:cNvSpPr/>
          <p:nvPr/>
        </p:nvSpPr>
        <p:spPr>
          <a:xfrm>
            <a:off x="548640" y="2926080"/>
            <a:ext cx="594360" cy="594360"/>
          </a:xfrm>
          <a:prstGeom prst="ellipse">
            <a:avLst/>
          </a:prstGeom>
          <a:solidFill>
            <a:srgbClr val="F4F7FC"/>
          </a:solidFill>
          <a:ln w="19050">
            <a:solidFill>
              <a:srgbClr val="00A896"/>
            </a:solidFill>
            <a:prstDash val="solid"/>
          </a:ln>
        </p:spPr>
      </p:sp>
      <p:pic>
        <p:nvPicPr>
          <p:cNvPr id="8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94944" y="3063240"/>
            <a:ext cx="320040" cy="320040"/>
          </a:xfrm>
          <a:prstGeom prst="rect">
            <a:avLst/>
          </a:prstGeom>
        </p:spPr>
      </p:pic>
      <p:sp>
        <p:nvSpPr>
          <p:cNvPr id="9" name="Text 5"/>
          <p:cNvSpPr/>
          <p:nvPr/>
        </p:nvSpPr>
        <p:spPr>
          <a:xfrm>
            <a:off x="1371600" y="2880360"/>
            <a:ext cx="98755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Maturing multi-agent claims architectures</a:t>
            </a:r>
            <a:endParaRPr lang="en-US" sz="1600" dirty="0"/>
          </a:p>
        </p:txBody>
      </p:sp>
      <p:sp>
        <p:nvSpPr>
          <p:cNvPr id="10" name="Text 6"/>
          <p:cNvSpPr/>
          <p:nvPr/>
        </p:nvSpPr>
        <p:spPr>
          <a:xfrm>
            <a:off x="1371600" y="3273552"/>
            <a:ext cx="987552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300" dirty="0">
                <a:solidFill>
                  <a:srgbClr val="5B6B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Payers are moving from single-model fraud scoring to orchestrated agent pipelines spanning intake, validation, and adjudication.</a:t>
            </a:r>
            <a:endParaRPr lang="en-US" sz="1300" dirty="0"/>
          </a:p>
        </p:txBody>
      </p:sp>
      <p:sp>
        <p:nvSpPr>
          <p:cNvPr id="11" name="Shape 7"/>
          <p:cNvSpPr/>
          <p:nvPr/>
        </p:nvSpPr>
        <p:spPr>
          <a:xfrm>
            <a:off x="548640" y="4434840"/>
            <a:ext cx="594360" cy="594360"/>
          </a:xfrm>
          <a:prstGeom prst="ellipse">
            <a:avLst/>
          </a:prstGeom>
          <a:solidFill>
            <a:srgbClr val="F4F7FC"/>
          </a:solidFill>
          <a:ln w="19050">
            <a:solidFill>
              <a:srgbClr val="00A896"/>
            </a:solidFill>
            <a:prstDash val="solid"/>
          </a:ln>
        </p:spPr>
      </p:sp>
      <p:pic>
        <p:nvPicPr>
          <p:cNvPr id="12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94944" y="4572000"/>
            <a:ext cx="320040" cy="320040"/>
          </a:xfrm>
          <a:prstGeom prst="rect">
            <a:avLst/>
          </a:prstGeom>
        </p:spPr>
      </p:pic>
      <p:sp>
        <p:nvSpPr>
          <p:cNvPr id="13" name="Text 8"/>
          <p:cNvSpPr/>
          <p:nvPr/>
        </p:nvSpPr>
        <p:spPr>
          <a:xfrm>
            <a:off x="1371600" y="4389120"/>
            <a:ext cx="98755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Tightening explainability &amp; disclosure rules</a:t>
            </a:r>
            <a:endParaRPr lang="en-US" sz="1600" dirty="0"/>
          </a:p>
        </p:txBody>
      </p:sp>
      <p:sp>
        <p:nvSpPr>
          <p:cNvPr id="14" name="Text 9"/>
          <p:cNvSpPr/>
          <p:nvPr/>
        </p:nvSpPr>
        <p:spPr>
          <a:xfrm>
            <a:off x="1371600" y="4782312"/>
            <a:ext cx="987552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300" dirty="0">
                <a:solidFill>
                  <a:srgbClr val="5B6B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2026 state laws (e.g. Texas TRAIGA) require disclosure when AI informs a clinical or payment decision.</a:t>
            </a:r>
            <a:endParaRPr lang="en-US" sz="1300" dirty="0"/>
          </a:p>
        </p:txBody>
      </p:sp>
      <p:sp>
        <p:nvSpPr>
          <p:cNvPr id="15" name="Text 10"/>
          <p:cNvSpPr/>
          <p:nvPr/>
        </p:nvSpPr>
        <p:spPr>
          <a:xfrm>
            <a:off x="548640" y="6355080"/>
            <a:ext cx="110642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5B6B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Sources: HIPAA Journal (2026); Launch Consulting (n.d.); MobiHealthNews (2026); Accenture Insurance Blog (2026); Akerman LLP (2026); Freyer et al. (2024).</a:t>
            </a:r>
            <a:endParaRPr lang="en-US" sz="9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73152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Opportunities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548640" y="1325880"/>
            <a:ext cx="3383280" cy="4389120"/>
          </a:xfrm>
          <a:prstGeom prst="roundRect">
            <a:avLst>
              <a:gd name="adj" fmla="val 2162"/>
            </a:avLst>
          </a:prstGeom>
          <a:solidFill>
            <a:srgbClr val="1E2761"/>
          </a:solidFill>
          <a:ln/>
        </p:spPr>
      </p:sp>
      <p:sp>
        <p:nvSpPr>
          <p:cNvPr id="4" name="Text 2"/>
          <p:cNvSpPr/>
          <p:nvPr/>
        </p:nvSpPr>
        <p:spPr>
          <a:xfrm>
            <a:off x="548640" y="1737360"/>
            <a:ext cx="338328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5600" b="1" dirty="0">
                <a:solidFill>
                  <a:srgbClr val="00A89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85%</a:t>
            </a:r>
            <a:endParaRPr lang="en-US" sz="5600" dirty="0"/>
          </a:p>
        </p:txBody>
      </p:sp>
      <p:sp>
        <p:nvSpPr>
          <p:cNvPr id="5" name="Text 3"/>
          <p:cNvSpPr/>
          <p:nvPr/>
        </p:nvSpPr>
        <p:spPr>
          <a:xfrm>
            <a:off x="822960" y="2743200"/>
            <a:ext cx="2834640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25000"/>
              </a:lnSpc>
              <a:buNone/>
            </a:pPr>
            <a:r>
              <a:rPr lang="en-US" sz="13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of U.S. healthcare leaders plan to increase agentic AI investment over the next 2–3 years</a:t>
            </a:r>
            <a:endParaRPr lang="en-US" sz="1350" dirty="0"/>
          </a:p>
        </p:txBody>
      </p:sp>
      <p:sp>
        <p:nvSpPr>
          <p:cNvPr id="6" name="Shape 4"/>
          <p:cNvSpPr/>
          <p:nvPr/>
        </p:nvSpPr>
        <p:spPr>
          <a:xfrm>
            <a:off x="1097280" y="4114800"/>
            <a:ext cx="2286000" cy="0"/>
          </a:xfrm>
          <a:prstGeom prst="line">
            <a:avLst/>
          </a:prstGeom>
          <a:noFill/>
          <a:ln w="12700">
            <a:solidFill>
              <a:srgbClr val="445091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548640" y="4251960"/>
            <a:ext cx="338328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800" b="1" dirty="0">
                <a:solidFill>
                  <a:srgbClr val="00A89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98%</a:t>
            </a:r>
            <a:endParaRPr lang="en-US" sz="4800" dirty="0"/>
          </a:p>
        </p:txBody>
      </p:sp>
      <p:sp>
        <p:nvSpPr>
          <p:cNvPr id="8" name="Text 6"/>
          <p:cNvSpPr/>
          <p:nvPr/>
        </p:nvSpPr>
        <p:spPr>
          <a:xfrm>
            <a:off x="822960" y="5120640"/>
            <a:ext cx="28346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expect at least 10% cost savings from agentic AI</a:t>
            </a:r>
            <a:endParaRPr lang="en-US" sz="1350" dirty="0"/>
          </a:p>
        </p:txBody>
      </p:sp>
      <p:pic>
        <p:nvPicPr>
          <p:cNvPr id="9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297680" y="1417320"/>
            <a:ext cx="365760" cy="365760"/>
          </a:xfrm>
          <a:prstGeom prst="rect">
            <a:avLst/>
          </a:prstGeom>
        </p:spPr>
      </p:pic>
      <p:sp>
        <p:nvSpPr>
          <p:cNvPr id="10" name="Text 7"/>
          <p:cNvSpPr/>
          <p:nvPr/>
        </p:nvSpPr>
        <p:spPr>
          <a:xfrm>
            <a:off x="4800600" y="1362456"/>
            <a:ext cx="66751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Absorb high-volume triage</a:t>
            </a:r>
            <a:endParaRPr lang="en-US" sz="1500" dirty="0"/>
          </a:p>
        </p:txBody>
      </p:sp>
      <p:sp>
        <p:nvSpPr>
          <p:cNvPr id="11" name="Text 8"/>
          <p:cNvSpPr/>
          <p:nvPr/>
        </p:nvSpPr>
        <p:spPr>
          <a:xfrm>
            <a:off x="4800600" y="1746504"/>
            <a:ext cx="667512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250" dirty="0">
                <a:solidFill>
                  <a:srgbClr val="5B6B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Agentic pipelines handle rules-governed claims work at scale, freeing investigators for complex or high-dollar cases.</a:t>
            </a:r>
            <a:endParaRPr lang="en-US" sz="1250" dirty="0"/>
          </a:p>
        </p:txBody>
      </p:sp>
      <p:pic>
        <p:nvPicPr>
          <p:cNvPr id="12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297680" y="2834640"/>
            <a:ext cx="365760" cy="365760"/>
          </a:xfrm>
          <a:prstGeom prst="rect">
            <a:avLst/>
          </a:prstGeom>
        </p:spPr>
      </p:pic>
      <p:sp>
        <p:nvSpPr>
          <p:cNvPr id="13" name="Text 9"/>
          <p:cNvSpPr/>
          <p:nvPr/>
        </p:nvSpPr>
        <p:spPr>
          <a:xfrm>
            <a:off x="4800600" y="2779776"/>
            <a:ext cx="66751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Catch relational fraud schemes</a:t>
            </a:r>
            <a:endParaRPr lang="en-US" sz="1500" dirty="0"/>
          </a:p>
        </p:txBody>
      </p:sp>
      <p:sp>
        <p:nvSpPr>
          <p:cNvPr id="14" name="Text 10"/>
          <p:cNvSpPr/>
          <p:nvPr/>
        </p:nvSpPr>
        <p:spPr>
          <a:xfrm>
            <a:off x="4800600" y="3163824"/>
            <a:ext cx="667512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250" dirty="0">
                <a:solidFill>
                  <a:srgbClr val="5B6B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Graph- and agent-based approaches model claims as interconnected provider–patient–facility networks, surfacing coordinated schemes simple rules miss.</a:t>
            </a:r>
            <a:endParaRPr lang="en-US" sz="1250" dirty="0"/>
          </a:p>
        </p:txBody>
      </p:sp>
      <p:pic>
        <p:nvPicPr>
          <p:cNvPr id="15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297680" y="4251960"/>
            <a:ext cx="365760" cy="365760"/>
          </a:xfrm>
          <a:prstGeom prst="rect">
            <a:avLst/>
          </a:prstGeom>
        </p:spPr>
      </p:pic>
      <p:sp>
        <p:nvSpPr>
          <p:cNvPr id="16" name="Text 11"/>
          <p:cNvSpPr/>
          <p:nvPr/>
        </p:nvSpPr>
        <p:spPr>
          <a:xfrm>
            <a:off x="4800600" y="4197096"/>
            <a:ext cx="66751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Extend, don’t replace, existing strengths</a:t>
            </a:r>
            <a:endParaRPr lang="en-US" sz="1500" dirty="0"/>
          </a:p>
        </p:txBody>
      </p:sp>
      <p:sp>
        <p:nvSpPr>
          <p:cNvPr id="17" name="Text 12"/>
          <p:cNvSpPr/>
          <p:nvPr/>
        </p:nvSpPr>
        <p:spPr>
          <a:xfrm>
            <a:off x="4800600" y="4581144"/>
            <a:ext cx="667512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250" dirty="0">
                <a:solidFill>
                  <a:srgbClr val="5B6B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Cotiviti can layer agentic reasoning onto its existing payment accuracy and quality measurement capabilities.</a:t>
            </a:r>
            <a:endParaRPr lang="en-US" sz="1250" dirty="0"/>
          </a:p>
        </p:txBody>
      </p:sp>
      <p:sp>
        <p:nvSpPr>
          <p:cNvPr id="18" name="Text 13"/>
          <p:cNvSpPr/>
          <p:nvPr/>
        </p:nvSpPr>
        <p:spPr>
          <a:xfrm>
            <a:off x="548640" y="6355080"/>
            <a:ext cx="110642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5B6B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Sources: WWT (2026); Deloitte (2026); Gupta (2026).</a:t>
            </a:r>
            <a:endParaRPr lang="en-US" sz="9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73152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Risks &amp; Threats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548640" y="1417320"/>
            <a:ext cx="11064240" cy="1417320"/>
          </a:xfrm>
          <a:prstGeom prst="roundRect">
            <a:avLst>
              <a:gd name="adj" fmla="val 4516"/>
            </a:avLst>
          </a:prstGeom>
          <a:solidFill>
            <a:srgbClr val="FDF2F0"/>
          </a:solidFill>
          <a:ln/>
        </p:spPr>
      </p:sp>
      <p:sp>
        <p:nvSpPr>
          <p:cNvPr id="4" name="Shape 2"/>
          <p:cNvSpPr/>
          <p:nvPr/>
        </p:nvSpPr>
        <p:spPr>
          <a:xfrm>
            <a:off x="822960" y="1709928"/>
            <a:ext cx="640080" cy="640080"/>
          </a:xfrm>
          <a:prstGeom prst="ellipse">
            <a:avLst/>
          </a:prstGeom>
          <a:solidFill>
            <a:srgbClr val="FFFFFF"/>
          </a:solidFill>
          <a:ln w="19050">
            <a:solidFill>
              <a:srgbClr val="C84B31"/>
            </a:solidFill>
            <a:prstDash val="solid"/>
          </a:ln>
        </p:spPr>
      </p:sp>
      <p:pic>
        <p:nvPicPr>
          <p:cNvPr id="5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78408" y="1865376"/>
            <a:ext cx="329184" cy="329184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1737360" y="1581912"/>
            <a:ext cx="96012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C84B3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Opacity &amp; explainability gaps</a:t>
            </a:r>
            <a:endParaRPr lang="en-US" sz="1550" dirty="0"/>
          </a:p>
        </p:txBody>
      </p:sp>
      <p:sp>
        <p:nvSpPr>
          <p:cNvPr id="7" name="Text 4"/>
          <p:cNvSpPr/>
          <p:nvPr/>
        </p:nvSpPr>
        <p:spPr>
          <a:xfrm>
            <a:off x="1737360" y="1965960"/>
            <a:ext cx="960120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250" dirty="0">
                <a:solidFill>
                  <a:srgbClr val="1B1B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Deep learning-based flags are hard for investigators or providers to interrogate — regulators are responding with disclosure and auditability mandates.</a:t>
            </a:r>
            <a:endParaRPr lang="en-US" sz="1250" dirty="0"/>
          </a:p>
        </p:txBody>
      </p:sp>
      <p:sp>
        <p:nvSpPr>
          <p:cNvPr id="8" name="Shape 5"/>
          <p:cNvSpPr/>
          <p:nvPr/>
        </p:nvSpPr>
        <p:spPr>
          <a:xfrm>
            <a:off x="548640" y="3044952"/>
            <a:ext cx="11064240" cy="1417320"/>
          </a:xfrm>
          <a:prstGeom prst="roundRect">
            <a:avLst>
              <a:gd name="adj" fmla="val 4516"/>
            </a:avLst>
          </a:prstGeom>
          <a:solidFill>
            <a:srgbClr val="FDF2F0"/>
          </a:solidFill>
          <a:ln/>
        </p:spPr>
      </p:sp>
      <p:sp>
        <p:nvSpPr>
          <p:cNvPr id="9" name="Shape 6"/>
          <p:cNvSpPr/>
          <p:nvPr/>
        </p:nvSpPr>
        <p:spPr>
          <a:xfrm>
            <a:off x="822960" y="3337560"/>
            <a:ext cx="640080" cy="640080"/>
          </a:xfrm>
          <a:prstGeom prst="ellipse">
            <a:avLst/>
          </a:prstGeom>
          <a:solidFill>
            <a:srgbClr val="FFFFFF"/>
          </a:solidFill>
          <a:ln w="19050">
            <a:solidFill>
              <a:srgbClr val="C84B31"/>
            </a:solidFill>
            <a:prstDash val="solid"/>
          </a:ln>
        </p:spPr>
      </p:sp>
      <p:pic>
        <p:nvPicPr>
          <p:cNvPr id="10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78408" y="3493008"/>
            <a:ext cx="329184" cy="329184"/>
          </a:xfrm>
          <a:prstGeom prst="rect">
            <a:avLst/>
          </a:prstGeom>
        </p:spPr>
      </p:pic>
      <p:sp>
        <p:nvSpPr>
          <p:cNvPr id="11" name="Text 7"/>
          <p:cNvSpPr/>
          <p:nvPr/>
        </p:nvSpPr>
        <p:spPr>
          <a:xfrm>
            <a:off x="1737360" y="3209544"/>
            <a:ext cx="96012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C84B3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Uneven compliance capacity</a:t>
            </a:r>
            <a:endParaRPr lang="en-US" sz="1550" dirty="0"/>
          </a:p>
        </p:txBody>
      </p:sp>
      <p:sp>
        <p:nvSpPr>
          <p:cNvPr id="12" name="Text 8"/>
          <p:cNvSpPr/>
          <p:nvPr/>
        </p:nvSpPr>
        <p:spPr>
          <a:xfrm>
            <a:off x="1737360" y="3593592"/>
            <a:ext cx="960120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250" dirty="0">
                <a:solidFill>
                  <a:srgbClr val="1B1B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Monitoring and validating these systems often falls on individual organizations, widening gaps between well- and under-resourced payers.</a:t>
            </a:r>
            <a:endParaRPr lang="en-US" sz="1250" dirty="0"/>
          </a:p>
        </p:txBody>
      </p:sp>
      <p:sp>
        <p:nvSpPr>
          <p:cNvPr id="13" name="Shape 9"/>
          <p:cNvSpPr/>
          <p:nvPr/>
        </p:nvSpPr>
        <p:spPr>
          <a:xfrm>
            <a:off x="548640" y="4672584"/>
            <a:ext cx="11064240" cy="1417320"/>
          </a:xfrm>
          <a:prstGeom prst="roundRect">
            <a:avLst>
              <a:gd name="adj" fmla="val 4516"/>
            </a:avLst>
          </a:prstGeom>
          <a:solidFill>
            <a:srgbClr val="FDF2F0"/>
          </a:solidFill>
          <a:ln/>
        </p:spPr>
      </p:sp>
      <p:sp>
        <p:nvSpPr>
          <p:cNvPr id="14" name="Shape 10"/>
          <p:cNvSpPr/>
          <p:nvPr/>
        </p:nvSpPr>
        <p:spPr>
          <a:xfrm>
            <a:off x="822960" y="4965192"/>
            <a:ext cx="640080" cy="640080"/>
          </a:xfrm>
          <a:prstGeom prst="ellipse">
            <a:avLst/>
          </a:prstGeom>
          <a:solidFill>
            <a:srgbClr val="FFFFFF"/>
          </a:solidFill>
          <a:ln w="19050">
            <a:solidFill>
              <a:srgbClr val="C84B31"/>
            </a:solidFill>
            <a:prstDash val="solid"/>
          </a:ln>
        </p:spPr>
      </p:sp>
      <p:pic>
        <p:nvPicPr>
          <p:cNvPr id="15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78408" y="5120640"/>
            <a:ext cx="329184" cy="329184"/>
          </a:xfrm>
          <a:prstGeom prst="rect">
            <a:avLst/>
          </a:prstGeom>
        </p:spPr>
      </p:pic>
      <p:sp>
        <p:nvSpPr>
          <p:cNvPr id="16" name="Text 11"/>
          <p:cNvSpPr/>
          <p:nvPr/>
        </p:nvSpPr>
        <p:spPr>
          <a:xfrm>
            <a:off x="1737360" y="4837176"/>
            <a:ext cx="96012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C84B3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Hallucination risk in reasoning agents</a:t>
            </a:r>
            <a:endParaRPr lang="en-US" sz="1550" dirty="0"/>
          </a:p>
        </p:txBody>
      </p:sp>
      <p:sp>
        <p:nvSpPr>
          <p:cNvPr id="17" name="Text 12"/>
          <p:cNvSpPr/>
          <p:nvPr/>
        </p:nvSpPr>
        <p:spPr>
          <a:xfrm>
            <a:off x="1737360" y="5221224"/>
            <a:ext cx="960120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250" dirty="0">
                <a:solidFill>
                  <a:srgbClr val="1B1B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generative agent's written rationale must be treated as a recommendation for a human — never as the basis for an autonomous denial.</a:t>
            </a:r>
            <a:endParaRPr lang="en-US" sz="1250" dirty="0"/>
          </a:p>
        </p:txBody>
      </p:sp>
      <p:sp>
        <p:nvSpPr>
          <p:cNvPr id="18" name="Text 13"/>
          <p:cNvSpPr/>
          <p:nvPr/>
        </p:nvSpPr>
        <p:spPr>
          <a:xfrm>
            <a:off x="548640" y="6355080"/>
            <a:ext cx="110642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5B6B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Sources: Akerman LLP (2026); Mazariego (2026).</a:t>
            </a:r>
            <a:endParaRPr lang="en-US" sz="9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107899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Strategic Recommendation for Cotiviti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548640" y="1051560"/>
            <a:ext cx="10789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5B6B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Extend existing payment accuracy capabilities with a narrow, governed agentic pilot — not a greenfield bet.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548640" y="1828800"/>
            <a:ext cx="5349240" cy="4023360"/>
          </a:xfrm>
          <a:prstGeom prst="roundRect">
            <a:avLst>
              <a:gd name="adj" fmla="val 1818"/>
            </a:avLst>
          </a:prstGeom>
          <a:solidFill>
            <a:srgbClr val="F4F7FC"/>
          </a:solidFill>
          <a:ln/>
          <a:effectLst>
            <a:outerShdw sx="100000" sy="100000" kx="0" ky="0" algn="bl" rotWithShape="0" blurRad="101600" dist="38100" dir="5400000">
              <a:srgbClr val="1E2761">
                <a:alpha val="10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868680" y="2148840"/>
            <a:ext cx="731520" cy="731520"/>
          </a:xfrm>
          <a:prstGeom prst="ellipse">
            <a:avLst/>
          </a:prstGeom>
          <a:solidFill>
            <a:srgbClr val="1E2761"/>
          </a:solidFill>
          <a:ln/>
        </p:spPr>
      </p:sp>
      <p:sp>
        <p:nvSpPr>
          <p:cNvPr id="6" name="Text 4"/>
          <p:cNvSpPr/>
          <p:nvPr/>
        </p:nvSpPr>
        <p:spPr>
          <a:xfrm>
            <a:off x="868680" y="2148840"/>
            <a:ext cx="7315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00A89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2800" dirty="0"/>
          </a:p>
        </p:txBody>
      </p:sp>
      <p:sp>
        <p:nvSpPr>
          <p:cNvPr id="7" name="Text 5"/>
          <p:cNvSpPr/>
          <p:nvPr/>
        </p:nvSpPr>
        <p:spPr>
          <a:xfrm>
            <a:off x="868680" y="3063240"/>
            <a:ext cx="470916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8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Pilot a narrow, auditable copilot</a:t>
            </a:r>
            <a:endParaRPr lang="en-US" sz="1800" dirty="0"/>
          </a:p>
        </p:txBody>
      </p:sp>
      <p:sp>
        <p:nvSpPr>
          <p:cNvPr id="8" name="Text 6"/>
          <p:cNvSpPr/>
          <p:nvPr/>
        </p:nvSpPr>
        <p:spPr>
          <a:xfrm>
            <a:off x="868680" y="3794760"/>
            <a:ext cx="4709160" cy="1920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350" dirty="0">
                <a:solidFill>
                  <a:srgbClr val="1B1B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Anomaly detection + classification + a reasoning agent that drafts (never finalizes) an investigation recommendation on one claim category — with mandatory human sign-off on every flagged claim.</a:t>
            </a:r>
            <a:endParaRPr lang="en-US" sz="1350" dirty="0"/>
          </a:p>
        </p:txBody>
      </p:sp>
      <p:sp>
        <p:nvSpPr>
          <p:cNvPr id="9" name="Shape 7"/>
          <p:cNvSpPr/>
          <p:nvPr/>
        </p:nvSpPr>
        <p:spPr>
          <a:xfrm>
            <a:off x="6263640" y="1828800"/>
            <a:ext cx="5349240" cy="4023360"/>
          </a:xfrm>
          <a:prstGeom prst="roundRect">
            <a:avLst>
              <a:gd name="adj" fmla="val 1818"/>
            </a:avLst>
          </a:prstGeom>
          <a:solidFill>
            <a:srgbClr val="F4F7FC"/>
          </a:solidFill>
          <a:ln/>
          <a:effectLst>
            <a:outerShdw sx="100000" sy="100000" kx="0" ky="0" algn="bl" rotWithShape="0" blurRad="101600" dist="38100" dir="5400000">
              <a:srgbClr val="1E2761">
                <a:alpha val="10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6583680" y="2148840"/>
            <a:ext cx="731520" cy="731520"/>
          </a:xfrm>
          <a:prstGeom prst="ellipse">
            <a:avLst/>
          </a:prstGeom>
          <a:solidFill>
            <a:srgbClr val="1E2761"/>
          </a:solidFill>
          <a:ln/>
        </p:spPr>
      </p:sp>
      <p:sp>
        <p:nvSpPr>
          <p:cNvPr id="11" name="Text 9"/>
          <p:cNvSpPr/>
          <p:nvPr/>
        </p:nvSpPr>
        <p:spPr>
          <a:xfrm>
            <a:off x="6583680" y="2148840"/>
            <a:ext cx="7315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00A89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2800" dirty="0"/>
          </a:p>
        </p:txBody>
      </p:sp>
      <p:sp>
        <p:nvSpPr>
          <p:cNvPr id="12" name="Text 10"/>
          <p:cNvSpPr/>
          <p:nvPr/>
        </p:nvSpPr>
        <p:spPr>
          <a:xfrm>
            <a:off x="6583680" y="3063240"/>
            <a:ext cx="470916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8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Build governance in parallel</a:t>
            </a:r>
            <a:endParaRPr lang="en-US" sz="1800" dirty="0"/>
          </a:p>
        </p:txBody>
      </p:sp>
      <p:sp>
        <p:nvSpPr>
          <p:cNvPr id="13" name="Text 11"/>
          <p:cNvSpPr/>
          <p:nvPr/>
        </p:nvSpPr>
        <p:spPr>
          <a:xfrm>
            <a:off x="6583680" y="3794760"/>
            <a:ext cx="4709160" cy="1920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350" dirty="0">
                <a:solidFill>
                  <a:srgbClr val="1B1B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Stand up decision logging, model versioning, and audit trails alongside the first pilot — ahead of 2026 disclosure and certification requirements, and far cheaper than retrofitting later.</a:t>
            </a:r>
            <a:endParaRPr lang="en-US" sz="13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1E276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1078992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Proof of Concept: 3-Agent Pipeline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548640" y="960120"/>
            <a:ext cx="107899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Agentic Claims Investigation Copilot — synthetic data, no PHI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548640" y="1920240"/>
            <a:ext cx="3291840" cy="3200400"/>
          </a:xfrm>
          <a:prstGeom prst="roundRect">
            <a:avLst>
              <a:gd name="adj" fmla="val 2286"/>
            </a:avLst>
          </a:prstGeom>
          <a:solidFill>
            <a:srgbClr val="26316B"/>
          </a:solidFill>
          <a:ln/>
        </p:spPr>
      </p:sp>
      <p:sp>
        <p:nvSpPr>
          <p:cNvPr id="5" name="Shape 3"/>
          <p:cNvSpPr/>
          <p:nvPr/>
        </p:nvSpPr>
        <p:spPr>
          <a:xfrm>
            <a:off x="822960" y="2194560"/>
            <a:ext cx="640080" cy="640080"/>
          </a:xfrm>
          <a:prstGeom prst="ellipse">
            <a:avLst/>
          </a:prstGeom>
          <a:solidFill>
            <a:srgbClr val="00A896"/>
          </a:solidFill>
          <a:ln/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69264" y="2340864"/>
            <a:ext cx="347472" cy="347472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822960" y="292608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100" kern="0" dirty="0">
                <a:solidFill>
                  <a:srgbClr val="00A8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Agent 1</a:t>
            </a:r>
            <a:endParaRPr lang="en-US" sz="1200" dirty="0"/>
          </a:p>
        </p:txBody>
      </p:sp>
      <p:sp>
        <p:nvSpPr>
          <p:cNvPr id="8" name="Text 5"/>
          <p:cNvSpPr/>
          <p:nvPr/>
        </p:nvSpPr>
        <p:spPr>
          <a:xfrm>
            <a:off x="822960" y="3200400"/>
            <a:ext cx="27432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Anomaly Detector</a:t>
            </a:r>
            <a:endParaRPr lang="en-US" sz="1700" dirty="0"/>
          </a:p>
        </p:txBody>
      </p:sp>
      <p:sp>
        <p:nvSpPr>
          <p:cNvPr id="9" name="Text 6"/>
          <p:cNvSpPr/>
          <p:nvPr/>
        </p:nvSpPr>
        <p:spPr>
          <a:xfrm>
            <a:off x="822960" y="3657600"/>
            <a:ext cx="274320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2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Isolation Forest flags claims priced well outside the peer norm for that procedure code.</a:t>
            </a:r>
            <a:endParaRPr lang="en-US" sz="1200" dirty="0"/>
          </a:p>
        </p:txBody>
      </p:sp>
      <p:pic>
        <p:nvPicPr>
          <p:cNvPr id="10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913632" y="3337560"/>
            <a:ext cx="365760" cy="365760"/>
          </a:xfrm>
          <a:prstGeom prst="rect">
            <a:avLst/>
          </a:prstGeom>
        </p:spPr>
      </p:pic>
      <p:sp>
        <p:nvSpPr>
          <p:cNvPr id="11" name="Shape 7"/>
          <p:cNvSpPr/>
          <p:nvPr/>
        </p:nvSpPr>
        <p:spPr>
          <a:xfrm>
            <a:off x="4434840" y="1920240"/>
            <a:ext cx="3291840" cy="3200400"/>
          </a:xfrm>
          <a:prstGeom prst="roundRect">
            <a:avLst>
              <a:gd name="adj" fmla="val 2286"/>
            </a:avLst>
          </a:prstGeom>
          <a:solidFill>
            <a:srgbClr val="26316B"/>
          </a:solidFill>
          <a:ln/>
        </p:spPr>
      </p:sp>
      <p:sp>
        <p:nvSpPr>
          <p:cNvPr id="12" name="Shape 8"/>
          <p:cNvSpPr/>
          <p:nvPr/>
        </p:nvSpPr>
        <p:spPr>
          <a:xfrm>
            <a:off x="4709160" y="2194560"/>
            <a:ext cx="640080" cy="640080"/>
          </a:xfrm>
          <a:prstGeom prst="ellipse">
            <a:avLst/>
          </a:prstGeom>
          <a:solidFill>
            <a:srgbClr val="00A896"/>
          </a:solidFill>
          <a:ln/>
        </p:spPr>
      </p:sp>
      <p:pic>
        <p:nvPicPr>
          <p:cNvPr id="13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855464" y="2340864"/>
            <a:ext cx="347472" cy="347472"/>
          </a:xfrm>
          <a:prstGeom prst="rect">
            <a:avLst/>
          </a:prstGeom>
        </p:spPr>
      </p:pic>
      <p:sp>
        <p:nvSpPr>
          <p:cNvPr id="14" name="Text 9"/>
          <p:cNvSpPr/>
          <p:nvPr/>
        </p:nvSpPr>
        <p:spPr>
          <a:xfrm>
            <a:off x="4709160" y="292608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100" kern="0" dirty="0">
                <a:solidFill>
                  <a:srgbClr val="00A8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Agent 2</a:t>
            </a:r>
            <a:endParaRPr lang="en-US" sz="1200" dirty="0"/>
          </a:p>
        </p:txBody>
      </p:sp>
      <p:sp>
        <p:nvSpPr>
          <p:cNvPr id="15" name="Text 10"/>
          <p:cNvSpPr/>
          <p:nvPr/>
        </p:nvSpPr>
        <p:spPr>
          <a:xfrm>
            <a:off x="4709160" y="3200400"/>
            <a:ext cx="27432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Classifier</a:t>
            </a:r>
            <a:endParaRPr lang="en-US" sz="1700" dirty="0"/>
          </a:p>
        </p:txBody>
      </p:sp>
      <p:sp>
        <p:nvSpPr>
          <p:cNvPr id="16" name="Text 11"/>
          <p:cNvSpPr/>
          <p:nvPr/>
        </p:nvSpPr>
        <p:spPr>
          <a:xfrm>
            <a:off x="4709160" y="3657600"/>
            <a:ext cx="274320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2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Rule-based triage labels why a claim was flagged: upcoding, unbundling, duplicate billing.</a:t>
            </a:r>
            <a:endParaRPr lang="en-US" sz="1200" dirty="0"/>
          </a:p>
        </p:txBody>
      </p:sp>
      <p:pic>
        <p:nvPicPr>
          <p:cNvPr id="17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799832" y="3337560"/>
            <a:ext cx="365760" cy="365760"/>
          </a:xfrm>
          <a:prstGeom prst="rect">
            <a:avLst/>
          </a:prstGeom>
        </p:spPr>
      </p:pic>
      <p:sp>
        <p:nvSpPr>
          <p:cNvPr id="18" name="Shape 12"/>
          <p:cNvSpPr/>
          <p:nvPr/>
        </p:nvSpPr>
        <p:spPr>
          <a:xfrm>
            <a:off x="8321040" y="1920240"/>
            <a:ext cx="3291840" cy="3200400"/>
          </a:xfrm>
          <a:prstGeom prst="roundRect">
            <a:avLst>
              <a:gd name="adj" fmla="val 2286"/>
            </a:avLst>
          </a:prstGeom>
          <a:solidFill>
            <a:srgbClr val="26316B"/>
          </a:solidFill>
          <a:ln/>
        </p:spPr>
      </p:sp>
      <p:sp>
        <p:nvSpPr>
          <p:cNvPr id="19" name="Shape 13"/>
          <p:cNvSpPr/>
          <p:nvPr/>
        </p:nvSpPr>
        <p:spPr>
          <a:xfrm>
            <a:off x="8595360" y="2194560"/>
            <a:ext cx="640080" cy="640080"/>
          </a:xfrm>
          <a:prstGeom prst="ellipse">
            <a:avLst/>
          </a:prstGeom>
          <a:solidFill>
            <a:srgbClr val="00A896"/>
          </a:solidFill>
          <a:ln/>
        </p:spPr>
      </p:sp>
      <p:pic>
        <p:nvPicPr>
          <p:cNvPr id="20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741664" y="2340864"/>
            <a:ext cx="347472" cy="347472"/>
          </a:xfrm>
          <a:prstGeom prst="rect">
            <a:avLst/>
          </a:prstGeom>
        </p:spPr>
      </p:pic>
      <p:sp>
        <p:nvSpPr>
          <p:cNvPr id="21" name="Text 14"/>
          <p:cNvSpPr/>
          <p:nvPr/>
        </p:nvSpPr>
        <p:spPr>
          <a:xfrm>
            <a:off x="8595360" y="292608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100" kern="0" dirty="0">
                <a:solidFill>
                  <a:srgbClr val="00A8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Agent 3</a:t>
            </a:r>
            <a:endParaRPr lang="en-US" sz="1200" dirty="0"/>
          </a:p>
        </p:txBody>
      </p:sp>
      <p:sp>
        <p:nvSpPr>
          <p:cNvPr id="22" name="Text 15"/>
          <p:cNvSpPr/>
          <p:nvPr/>
        </p:nvSpPr>
        <p:spPr>
          <a:xfrm>
            <a:off x="8595360" y="3200400"/>
            <a:ext cx="27432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Reasoning Agent</a:t>
            </a:r>
            <a:endParaRPr lang="en-US" sz="1700" dirty="0"/>
          </a:p>
        </p:txBody>
      </p:sp>
      <p:sp>
        <p:nvSpPr>
          <p:cNvPr id="23" name="Text 16"/>
          <p:cNvSpPr/>
          <p:nvPr/>
        </p:nvSpPr>
        <p:spPr>
          <a:xfrm>
            <a:off x="8595360" y="3657600"/>
            <a:ext cx="274320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2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LLM chains both signals into a written investigation summary and recommendation.</a:t>
            </a:r>
            <a:endParaRPr lang="en-US" sz="1200" dirty="0"/>
          </a:p>
        </p:txBody>
      </p:sp>
      <p:sp>
        <p:nvSpPr>
          <p:cNvPr id="24" name="Text 17"/>
          <p:cNvSpPr/>
          <p:nvPr/>
        </p:nvSpPr>
        <p:spPr>
          <a:xfrm>
            <a:off x="640080" y="5486400"/>
            <a:ext cx="10515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i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Orchestrator runs the three agents sequentially on each claim — simple by design, per the assignment's own guidance not to overcomplicate the demo.</a:t>
            </a:r>
            <a:endParaRPr lang="en-US" sz="125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105156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Copilot in Action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548640" y="960120"/>
            <a:ext cx="10515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5B6B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Live Streamlit dashboard — demonstrated in the accompanying video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548640" y="1600200"/>
            <a:ext cx="2468880" cy="1371600"/>
          </a:xfrm>
          <a:prstGeom prst="roundRect">
            <a:avLst>
              <a:gd name="adj" fmla="val 5333"/>
            </a:avLst>
          </a:prstGeom>
          <a:solidFill>
            <a:srgbClr val="F4F7FC"/>
          </a:solidFill>
          <a:ln/>
        </p:spPr>
      </p:sp>
      <p:sp>
        <p:nvSpPr>
          <p:cNvPr id="5" name="Text 3"/>
          <p:cNvSpPr/>
          <p:nvPr/>
        </p:nvSpPr>
        <p:spPr>
          <a:xfrm>
            <a:off x="548640" y="1691640"/>
            <a:ext cx="246888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2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604</a:t>
            </a:r>
            <a:endParaRPr lang="en-US" sz="3200" dirty="0"/>
          </a:p>
        </p:txBody>
      </p:sp>
      <p:sp>
        <p:nvSpPr>
          <p:cNvPr id="6" name="Text 4"/>
          <p:cNvSpPr/>
          <p:nvPr/>
        </p:nvSpPr>
        <p:spPr>
          <a:xfrm>
            <a:off x="685800" y="2423160"/>
            <a:ext cx="21945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50" dirty="0">
                <a:solidFill>
                  <a:srgbClr val="5B6B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Synthetic claims processed</a:t>
            </a:r>
            <a:endParaRPr lang="en-US" sz="1150" dirty="0"/>
          </a:p>
        </p:txBody>
      </p:sp>
      <p:sp>
        <p:nvSpPr>
          <p:cNvPr id="7" name="Shape 5"/>
          <p:cNvSpPr/>
          <p:nvPr/>
        </p:nvSpPr>
        <p:spPr>
          <a:xfrm>
            <a:off x="3291840" y="1600200"/>
            <a:ext cx="2468880" cy="1371600"/>
          </a:xfrm>
          <a:prstGeom prst="roundRect">
            <a:avLst>
              <a:gd name="adj" fmla="val 5333"/>
            </a:avLst>
          </a:prstGeom>
          <a:solidFill>
            <a:srgbClr val="F4F7FC"/>
          </a:solidFill>
          <a:ln/>
        </p:spPr>
      </p:sp>
      <p:sp>
        <p:nvSpPr>
          <p:cNvPr id="8" name="Text 6"/>
          <p:cNvSpPr/>
          <p:nvPr/>
        </p:nvSpPr>
        <p:spPr>
          <a:xfrm>
            <a:off x="3291840" y="1691640"/>
            <a:ext cx="246888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2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49</a:t>
            </a:r>
            <a:endParaRPr lang="en-US" sz="3200" dirty="0"/>
          </a:p>
        </p:txBody>
      </p:sp>
      <p:sp>
        <p:nvSpPr>
          <p:cNvPr id="9" name="Text 7"/>
          <p:cNvSpPr/>
          <p:nvPr/>
        </p:nvSpPr>
        <p:spPr>
          <a:xfrm>
            <a:off x="3429000" y="2423160"/>
            <a:ext cx="21945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50" dirty="0">
                <a:solidFill>
                  <a:srgbClr val="5B6B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Flagged for investigation</a:t>
            </a:r>
            <a:endParaRPr lang="en-US" sz="1150" dirty="0"/>
          </a:p>
        </p:txBody>
      </p:sp>
      <p:sp>
        <p:nvSpPr>
          <p:cNvPr id="10" name="Shape 8"/>
          <p:cNvSpPr/>
          <p:nvPr/>
        </p:nvSpPr>
        <p:spPr>
          <a:xfrm>
            <a:off x="6035040" y="1600200"/>
            <a:ext cx="2468880" cy="1371600"/>
          </a:xfrm>
          <a:prstGeom prst="roundRect">
            <a:avLst>
              <a:gd name="adj" fmla="val 5333"/>
            </a:avLst>
          </a:prstGeom>
          <a:solidFill>
            <a:srgbClr val="F4F7FC"/>
          </a:solidFill>
          <a:ln/>
        </p:spPr>
      </p:sp>
      <p:sp>
        <p:nvSpPr>
          <p:cNvPr id="11" name="Text 9"/>
          <p:cNvSpPr/>
          <p:nvPr/>
        </p:nvSpPr>
        <p:spPr>
          <a:xfrm>
            <a:off x="6035040" y="1691640"/>
            <a:ext cx="246888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2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8.1%</a:t>
            </a:r>
            <a:endParaRPr lang="en-US" sz="3200" dirty="0"/>
          </a:p>
        </p:txBody>
      </p:sp>
      <p:sp>
        <p:nvSpPr>
          <p:cNvPr id="12" name="Text 10"/>
          <p:cNvSpPr/>
          <p:nvPr/>
        </p:nvSpPr>
        <p:spPr>
          <a:xfrm>
            <a:off x="6172200" y="2423160"/>
            <a:ext cx="21945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50" dirty="0">
                <a:solidFill>
                  <a:srgbClr val="5B6B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Flag rate</a:t>
            </a:r>
            <a:endParaRPr lang="en-US" sz="1150" dirty="0"/>
          </a:p>
        </p:txBody>
      </p:sp>
      <p:sp>
        <p:nvSpPr>
          <p:cNvPr id="13" name="Shape 11"/>
          <p:cNvSpPr/>
          <p:nvPr/>
        </p:nvSpPr>
        <p:spPr>
          <a:xfrm>
            <a:off x="548640" y="3246120"/>
            <a:ext cx="10607040" cy="2788920"/>
          </a:xfrm>
          <a:prstGeom prst="roundRect">
            <a:avLst>
              <a:gd name="adj" fmla="val 2623"/>
            </a:avLst>
          </a:prstGeom>
          <a:solidFill>
            <a:srgbClr val="F4F7FC"/>
          </a:solidFill>
          <a:ln w="12700">
            <a:solidFill>
              <a:srgbClr val="DCE5F5"/>
            </a:solidFill>
            <a:prstDash val="solid"/>
          </a:ln>
        </p:spPr>
      </p:sp>
      <p:pic>
        <p:nvPicPr>
          <p:cNvPr id="14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68680" y="3520440"/>
            <a:ext cx="365760" cy="365760"/>
          </a:xfrm>
          <a:prstGeom prst="rect">
            <a:avLst/>
          </a:prstGeom>
        </p:spPr>
      </p:pic>
      <p:sp>
        <p:nvSpPr>
          <p:cNvPr id="15" name="Text 12"/>
          <p:cNvSpPr/>
          <p:nvPr/>
        </p:nvSpPr>
        <p:spPr>
          <a:xfrm>
            <a:off x="1371600" y="3547872"/>
            <a:ext cx="9144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Example Investigation Summary — Agent 3 output</a:t>
            </a:r>
            <a:endParaRPr lang="en-US" sz="1350" dirty="0"/>
          </a:p>
        </p:txBody>
      </p:sp>
      <p:sp>
        <p:nvSpPr>
          <p:cNvPr id="16" name="Text 13"/>
          <p:cNvSpPr/>
          <p:nvPr/>
        </p:nvSpPr>
        <p:spPr>
          <a:xfrm>
            <a:off x="868680" y="4069080"/>
            <a:ext cx="996696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400" i="1" dirty="0">
                <a:solidFill>
                  <a:srgbClr val="1B1B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“Claim CLM-00363 was billed at 2.69x the peer median price for procedure 80053, well above what other providers typically charge for this code. This is consistent with unbundling. Recommendation: escalate to a coding specialist for a bundling-rules review before payment.”</a:t>
            </a:r>
            <a:endParaRPr lang="en-US" sz="1400" dirty="0"/>
          </a:p>
        </p:txBody>
      </p:sp>
      <p:sp>
        <p:nvSpPr>
          <p:cNvPr id="17" name="Text 14"/>
          <p:cNvSpPr/>
          <p:nvPr/>
        </p:nvSpPr>
        <p:spPr>
          <a:xfrm>
            <a:off x="868680" y="5074920"/>
            <a:ext cx="99669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00A8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Category: unbundling_suspected   •   Anomaly score: 0.80   •   Ratio to peer median: 2.69x</a:t>
            </a:r>
            <a:endParaRPr lang="en-US" sz="1150" dirty="0"/>
          </a:p>
        </p:txBody>
      </p:sp>
      <p:sp>
        <p:nvSpPr>
          <p:cNvPr id="18" name="Text 15"/>
          <p:cNvSpPr/>
          <p:nvPr/>
        </p:nvSpPr>
        <p:spPr>
          <a:xfrm>
            <a:off x="868680" y="5486400"/>
            <a:ext cx="99669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5B6B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flagged claim routes to a human reviewer — the agent recommends, it never auto-denies.</a:t>
            </a:r>
            <a:endParaRPr lang="en-US" sz="115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73152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Key Takeaways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548640" y="1554480"/>
            <a:ext cx="3520440" cy="3931920"/>
          </a:xfrm>
          <a:prstGeom prst="roundRect">
            <a:avLst>
              <a:gd name="adj" fmla="val 2078"/>
            </a:avLst>
          </a:prstGeom>
          <a:solidFill>
            <a:srgbClr val="F4F7FC"/>
          </a:solidFill>
          <a:ln/>
          <a:effectLst>
            <a:outerShdw sx="100000" sy="100000" kx="0" ky="0" algn="bl" rotWithShape="0" blurRad="101600" dist="38100" dir="5400000">
              <a:srgbClr val="1E2761">
                <a:alpha val="10000"/>
              </a:srgbClr>
            </a:outerShdw>
          </a:effectLst>
        </p:spPr>
      </p:sp>
      <p:sp>
        <p:nvSpPr>
          <p:cNvPr id="4" name="Shape 2"/>
          <p:cNvSpPr/>
          <p:nvPr/>
        </p:nvSpPr>
        <p:spPr>
          <a:xfrm>
            <a:off x="868680" y="1874520"/>
            <a:ext cx="685800" cy="685800"/>
          </a:xfrm>
          <a:prstGeom prst="ellipse">
            <a:avLst/>
          </a:prstGeom>
          <a:solidFill>
            <a:srgbClr val="1E2761"/>
          </a:solidFill>
          <a:ln/>
        </p:spPr>
      </p:sp>
      <p:pic>
        <p:nvPicPr>
          <p:cNvPr id="5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24128" y="2029968"/>
            <a:ext cx="365760" cy="365760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822960" y="2743200"/>
            <a:ext cx="29718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5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Agentic AI fits TPO naturally</a:t>
            </a:r>
            <a:endParaRPr lang="en-US" sz="1550" dirty="0"/>
          </a:p>
        </p:txBody>
      </p:sp>
      <p:sp>
        <p:nvSpPr>
          <p:cNvPr id="7" name="Text 4"/>
          <p:cNvSpPr/>
          <p:nvPr/>
        </p:nvSpPr>
        <p:spPr>
          <a:xfrm>
            <a:off x="822960" y="3429000"/>
            <a:ext cx="2971800" cy="1828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250" dirty="0">
                <a:solidFill>
                  <a:srgbClr val="5B6B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Classification, anomaly detection, and chain reasoning map directly onto claims investigation workflows.</a:t>
            </a:r>
            <a:endParaRPr lang="en-US" sz="1250" dirty="0"/>
          </a:p>
        </p:txBody>
      </p:sp>
      <p:sp>
        <p:nvSpPr>
          <p:cNvPr id="8" name="Shape 5"/>
          <p:cNvSpPr/>
          <p:nvPr/>
        </p:nvSpPr>
        <p:spPr>
          <a:xfrm>
            <a:off x="4297680" y="1554480"/>
            <a:ext cx="3520440" cy="3931920"/>
          </a:xfrm>
          <a:prstGeom prst="roundRect">
            <a:avLst>
              <a:gd name="adj" fmla="val 2078"/>
            </a:avLst>
          </a:prstGeom>
          <a:solidFill>
            <a:srgbClr val="F4F7FC"/>
          </a:solidFill>
          <a:ln/>
          <a:effectLst>
            <a:outerShdw sx="100000" sy="100000" kx="0" ky="0" algn="bl" rotWithShape="0" blurRad="101600" dist="38100" dir="5400000">
              <a:srgbClr val="1E2761">
                <a:alpha val="10000"/>
              </a:srgbClr>
            </a:outerShdw>
          </a:effectLst>
        </p:spPr>
      </p:sp>
      <p:sp>
        <p:nvSpPr>
          <p:cNvPr id="9" name="Shape 6"/>
          <p:cNvSpPr/>
          <p:nvPr/>
        </p:nvSpPr>
        <p:spPr>
          <a:xfrm>
            <a:off x="4617720" y="1874520"/>
            <a:ext cx="685800" cy="685800"/>
          </a:xfrm>
          <a:prstGeom prst="ellipse">
            <a:avLst/>
          </a:prstGeom>
          <a:solidFill>
            <a:srgbClr val="1E2761"/>
          </a:solidFill>
          <a:ln/>
        </p:spPr>
      </p:sp>
      <p:pic>
        <p:nvPicPr>
          <p:cNvPr id="10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773168" y="2029968"/>
            <a:ext cx="365760" cy="365760"/>
          </a:xfrm>
          <a:prstGeom prst="rect">
            <a:avLst/>
          </a:prstGeom>
        </p:spPr>
      </p:pic>
      <p:sp>
        <p:nvSpPr>
          <p:cNvPr id="11" name="Text 7"/>
          <p:cNvSpPr/>
          <p:nvPr/>
        </p:nvSpPr>
        <p:spPr>
          <a:xfrm>
            <a:off x="4572000" y="2743200"/>
            <a:ext cx="29718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5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Governance is not optional</a:t>
            </a:r>
            <a:endParaRPr lang="en-US" sz="1550" dirty="0"/>
          </a:p>
        </p:txBody>
      </p:sp>
      <p:sp>
        <p:nvSpPr>
          <p:cNvPr id="12" name="Text 8"/>
          <p:cNvSpPr/>
          <p:nvPr/>
        </p:nvSpPr>
        <p:spPr>
          <a:xfrm>
            <a:off x="4572000" y="3429000"/>
            <a:ext cx="2971800" cy="1828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250" dirty="0">
                <a:solidFill>
                  <a:srgbClr val="5B6B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Explainability and disclosure requirements are arriving in 2026 — build audit trails alongside the pilot, not after it.</a:t>
            </a:r>
            <a:endParaRPr lang="en-US" sz="1250" dirty="0"/>
          </a:p>
        </p:txBody>
      </p:sp>
      <p:sp>
        <p:nvSpPr>
          <p:cNvPr id="13" name="Shape 9"/>
          <p:cNvSpPr/>
          <p:nvPr/>
        </p:nvSpPr>
        <p:spPr>
          <a:xfrm>
            <a:off x="8046720" y="1554480"/>
            <a:ext cx="3520440" cy="3931920"/>
          </a:xfrm>
          <a:prstGeom prst="roundRect">
            <a:avLst>
              <a:gd name="adj" fmla="val 2078"/>
            </a:avLst>
          </a:prstGeom>
          <a:solidFill>
            <a:srgbClr val="F4F7FC"/>
          </a:solidFill>
          <a:ln/>
          <a:effectLst>
            <a:outerShdw sx="100000" sy="100000" kx="0" ky="0" algn="bl" rotWithShape="0" blurRad="101600" dist="38100" dir="5400000">
              <a:srgbClr val="1E2761">
                <a:alpha val="10000"/>
              </a:srgbClr>
            </a:outerShdw>
          </a:effectLst>
        </p:spPr>
      </p:sp>
      <p:sp>
        <p:nvSpPr>
          <p:cNvPr id="14" name="Shape 10"/>
          <p:cNvSpPr/>
          <p:nvPr/>
        </p:nvSpPr>
        <p:spPr>
          <a:xfrm>
            <a:off x="8366760" y="1874520"/>
            <a:ext cx="685800" cy="685800"/>
          </a:xfrm>
          <a:prstGeom prst="ellipse">
            <a:avLst/>
          </a:prstGeom>
          <a:solidFill>
            <a:srgbClr val="1E2761"/>
          </a:solidFill>
          <a:ln/>
        </p:spPr>
      </p:sp>
      <p:pic>
        <p:nvPicPr>
          <p:cNvPr id="15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522208" y="2029968"/>
            <a:ext cx="365760" cy="365760"/>
          </a:xfrm>
          <a:prstGeom prst="rect">
            <a:avLst/>
          </a:prstGeom>
        </p:spPr>
      </p:pic>
      <p:sp>
        <p:nvSpPr>
          <p:cNvPr id="16" name="Text 11"/>
          <p:cNvSpPr/>
          <p:nvPr/>
        </p:nvSpPr>
        <p:spPr>
          <a:xfrm>
            <a:off x="8321040" y="2743200"/>
            <a:ext cx="29718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5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Start narrow, prove it, expand</a:t>
            </a:r>
            <a:endParaRPr lang="en-US" sz="1550" dirty="0"/>
          </a:p>
        </p:txBody>
      </p:sp>
      <p:sp>
        <p:nvSpPr>
          <p:cNvPr id="17" name="Text 12"/>
          <p:cNvSpPr/>
          <p:nvPr/>
        </p:nvSpPr>
        <p:spPr>
          <a:xfrm>
            <a:off x="8321040" y="3429000"/>
            <a:ext cx="2971800" cy="1828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250" dirty="0">
                <a:solidFill>
                  <a:srgbClr val="5B6B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small, auditable pilot with mandatory human sign-off is the credible path to scaling agentic claims tools.</a:t>
            </a:r>
            <a:endParaRPr lang="en-US" sz="125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1E276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961120" y="4114800"/>
            <a:ext cx="4572000" cy="4572000"/>
          </a:xfrm>
          <a:prstGeom prst="ellipse">
            <a:avLst/>
          </a:prstGeom>
          <a:solidFill>
            <a:srgbClr val="26316B"/>
          </a:solidFill>
          <a:ln/>
        </p:spPr>
      </p:sp>
      <p:sp>
        <p:nvSpPr>
          <p:cNvPr id="3" name="Shape 1"/>
          <p:cNvSpPr/>
          <p:nvPr/>
        </p:nvSpPr>
        <p:spPr>
          <a:xfrm>
            <a:off x="640080" y="640080"/>
            <a:ext cx="731520" cy="731520"/>
          </a:xfrm>
          <a:prstGeom prst="ellipse">
            <a:avLst/>
          </a:prstGeom>
          <a:solidFill>
            <a:srgbClr val="00A896"/>
          </a:solidFill>
          <a:ln/>
        </p:spPr>
      </p:sp>
      <p:pic>
        <p:nvPicPr>
          <p:cNvPr id="4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86384" y="786384"/>
            <a:ext cx="438912" cy="438912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640080" y="1828800"/>
            <a:ext cx="91440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Thank You</a:t>
            </a:r>
            <a:endParaRPr lang="en-US" sz="4200" dirty="0"/>
          </a:p>
        </p:txBody>
      </p:sp>
      <p:sp>
        <p:nvSpPr>
          <p:cNvPr id="6" name="Text 3"/>
          <p:cNvSpPr/>
          <p:nvPr/>
        </p:nvSpPr>
        <p:spPr>
          <a:xfrm>
            <a:off x="640080" y="2743200"/>
            <a:ext cx="86868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i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Questions about the report, the proof of concept, or where this could go next — happy to discuss.</a:t>
            </a:r>
            <a:endParaRPr lang="en-US" sz="1600" dirty="0"/>
          </a:p>
        </p:txBody>
      </p:sp>
      <p:pic>
        <p:nvPicPr>
          <p:cNvPr id="7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3749040"/>
            <a:ext cx="292608" cy="292608"/>
          </a:xfrm>
          <a:prstGeom prst="rect">
            <a:avLst/>
          </a:prstGeom>
        </p:spPr>
      </p:pic>
      <p:sp>
        <p:nvSpPr>
          <p:cNvPr id="8" name="Text 4"/>
          <p:cNvSpPr/>
          <p:nvPr/>
        </p:nvSpPr>
        <p:spPr>
          <a:xfrm>
            <a:off x="1051560" y="3730752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aryan26.03.02@gmail.com</a:t>
            </a:r>
            <a:endParaRPr lang="en-US" sz="1400" dirty="0"/>
          </a:p>
        </p:txBody>
      </p:sp>
      <p:sp>
        <p:nvSpPr>
          <p:cNvPr id="9" name="Text 5"/>
          <p:cNvSpPr/>
          <p:nvPr/>
        </p:nvSpPr>
        <p:spPr>
          <a:xfrm>
            <a:off x="640080" y="4206240"/>
            <a:ext cx="7315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8C9BB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Aryan Maheshwari  |  M.S. Applied Data Science, USC</a:t>
            </a:r>
            <a:endParaRPr lang="en-US" sz="13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Agentic AI for Payment Integrity — Cotiviti Intern Assessment</dc:title>
  <dc:subject>PptxGenJS Presentation</dc:subject>
  <dc:creator>Aryan Maheshwari</dc:creator>
  <cp:lastModifiedBy>Aryan Maheshwari</cp:lastModifiedBy>
  <cp:revision>1</cp:revision>
  <dcterms:created xsi:type="dcterms:W3CDTF">2026-06-25T20:56:36Z</dcterms:created>
  <dcterms:modified xsi:type="dcterms:W3CDTF">2026-06-25T20:56:36Z</dcterms:modified>
</cp:coreProperties>
</file>